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57" r:id="rId5"/>
    <p:sldId id="258" r:id="rId6"/>
    <p:sldId id="259" r:id="rId7"/>
    <p:sldId id="263" r:id="rId8"/>
    <p:sldId id="265" r:id="rId9"/>
    <p:sldId id="268" r:id="rId10"/>
    <p:sldId id="270" r:id="rId11"/>
    <p:sldId id="264" r:id="rId12"/>
    <p:sldId id="269" r:id="rId13"/>
    <p:sldId id="271" r:id="rId14"/>
    <p:sldId id="262" r:id="rId15"/>
    <p:sldId id="261" r:id="rId16"/>
    <p:sldId id="26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88" autoAdjust="0"/>
    <p:restoredTop sz="94660"/>
  </p:normalViewPr>
  <p:slideViewPr>
    <p:cSldViewPr snapToGrid="0" showGuides="1">
      <p:cViewPr varScale="1">
        <p:scale>
          <a:sx n="153" d="100"/>
          <a:sy n="153" d="100"/>
        </p:scale>
        <p:origin x="112" y="2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8C0C7-56A3-44CD-BE63-FD8C7A66D3D1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876F5-11DF-4603-925F-A6DDC3E65C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726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8C0C7-56A3-44CD-BE63-FD8C7A66D3D1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876F5-11DF-4603-925F-A6DDC3E65C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300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8C0C7-56A3-44CD-BE63-FD8C7A66D3D1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876F5-11DF-4603-925F-A6DDC3E65C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83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8C0C7-56A3-44CD-BE63-FD8C7A66D3D1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876F5-11DF-4603-925F-A6DDC3E65C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944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8C0C7-56A3-44CD-BE63-FD8C7A66D3D1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876F5-11DF-4603-925F-A6DDC3E65C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19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8C0C7-56A3-44CD-BE63-FD8C7A66D3D1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876F5-11DF-4603-925F-A6DDC3E65C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527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8C0C7-56A3-44CD-BE63-FD8C7A66D3D1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876F5-11DF-4603-925F-A6DDC3E65C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620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8C0C7-56A3-44CD-BE63-FD8C7A66D3D1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876F5-11DF-4603-925F-A6DDC3E65C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308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8C0C7-56A3-44CD-BE63-FD8C7A66D3D1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876F5-11DF-4603-925F-A6DDC3E65C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966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8C0C7-56A3-44CD-BE63-FD8C7A66D3D1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876F5-11DF-4603-925F-A6DDC3E65C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824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8C0C7-56A3-44CD-BE63-FD8C7A66D3D1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876F5-11DF-4603-925F-A6DDC3E65C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430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8C0C7-56A3-44CD-BE63-FD8C7A66D3D1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876F5-11DF-4603-925F-A6DDC3E65C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316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p.weixin.qq.com/s/XNfyYNKP1zSlbhAD84PENg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Evolutionary-Intelligence/DistributedEvolutionaryComputation" TargetMode="External"/><Relationship Id="rId5" Type="http://schemas.openxmlformats.org/officeDocument/2006/relationships/image" Target="../media/image9.jpe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as.org/doi/abs/10.1073/pnas.2120037119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面向大规模黑箱优化问题的</a:t>
            </a:r>
            <a:r>
              <a:rPr lang="zh-CN" alt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演化算法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分析与设计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段琦琦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月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日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上海大学未来技术学院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青年学者论坛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5348" y="0"/>
            <a:ext cx="5996652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039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基本流程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478" y="1269000"/>
            <a:ext cx="4724392" cy="4320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488668"/>
            <a:ext cx="12192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图片来源</a:t>
            </a: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0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博士论文</a:t>
            </a:r>
            <a:endParaRPr lang="zh-CN" altLang="en-US" sz="20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生物启发视角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神经网络、强化学习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拉马克的“用进废退”论 </a:t>
            </a:r>
            <a:r>
              <a:rPr lang="en-US" altLang="zh-CN" sz="13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3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具有</a:t>
            </a:r>
            <a:r>
              <a:rPr lang="zh-CN" altLang="en-US" sz="13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争议的理论</a:t>
            </a:r>
            <a:r>
              <a:rPr lang="en-US" altLang="zh-CN" sz="13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13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达尔文的自然演化论 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自然选择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孟德尔的基因遗传论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费舍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尔等人的现代综合论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计算视角</a:t>
            </a:r>
            <a:endParaRPr lang="en-US" altLang="zh-CN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图灵在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1948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年提出 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生前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未发表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1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Genetical Search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与神经进化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冯诺依曼在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1950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年代提出 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生前未发表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1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Self-Replicating Machine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理论视角</a:t>
            </a:r>
            <a:endParaRPr lang="en-US" altLang="zh-CN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收敛分析、动态分析、性能分析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“没有免费午餐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”定理</a:t>
            </a:r>
            <a:r>
              <a: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(AI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领域最基础的定理之一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1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优化版本发表在演化计算领域代表性期刊</a:t>
            </a:r>
            <a:endParaRPr lang="en-US" altLang="zh-CN" sz="9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0100" y="0"/>
            <a:ext cx="39419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892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应用：阿里巴巴上海园区设计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23270"/>
            <a:ext cx="4940270" cy="324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84" y="2343270"/>
            <a:ext cx="4600262" cy="36000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488668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https://mp.weixin.qq.com/s/XNfyYNKP1zSlbhAD84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PENg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(Foster +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Partners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官方公众号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470844" y="1889809"/>
            <a:ext cx="3250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年上海设计奖金奖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042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代表性应用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（部分）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6674" y="4146490"/>
            <a:ext cx="4078653" cy="90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3470" y="1989000"/>
            <a:ext cx="4165060" cy="1260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933118" y="5561636"/>
            <a:ext cx="4312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分布式演化算法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(GP)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607" y="1977021"/>
            <a:ext cx="3989329" cy="1260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6287" y="4056490"/>
            <a:ext cx="1933450" cy="10800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084009" y="5562038"/>
            <a:ext cx="4312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神经进化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(NE)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0" y="6488668"/>
            <a:ext cx="12192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https://github.com/Evolutionary-Intelligence/DistributedEvolutionaryComputation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2993"/>
            <a:ext cx="3999907" cy="1188000"/>
          </a:xfrm>
          <a:prstGeom prst="rect">
            <a:avLst/>
          </a:prstGeom>
        </p:spPr>
      </p:pic>
      <p:pic>
        <p:nvPicPr>
          <p:cNvPr id="1028" name="Picture 4" descr="https://members.loria.fr/JBMouret/pics2021/nature_cover_2015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66" y="4056490"/>
            <a:ext cx="824083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框 15"/>
          <p:cNvSpPr txBox="1"/>
          <p:nvPr/>
        </p:nvSpPr>
        <p:spPr>
          <a:xfrm>
            <a:off x="-156274" y="5560211"/>
            <a:ext cx="4312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演化算法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(QD)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32" y="4056490"/>
            <a:ext cx="2994286" cy="1080000"/>
          </a:xfrm>
          <a:prstGeom prst="rect">
            <a:avLst/>
          </a:prstGeom>
        </p:spPr>
      </p:pic>
      <p:cxnSp>
        <p:nvCxnSpPr>
          <p:cNvPr id="18" name="直接连接符 17"/>
          <p:cNvCxnSpPr/>
          <p:nvPr/>
        </p:nvCxnSpPr>
        <p:spPr>
          <a:xfrm>
            <a:off x="3941104" y="1690688"/>
            <a:ext cx="1" cy="4738063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8196835" y="1691451"/>
            <a:ext cx="18042" cy="4773237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787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挑战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探索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开发平衡</a:t>
            </a:r>
            <a:endParaRPr lang="en-US" altLang="zh-CN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最初来自统计社区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多臂老虎机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强化学习社区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训练的采样复杂度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维度灾难 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组合爆炸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最初来自自动控制社区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黑箱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场景</a:t>
            </a:r>
            <a:r>
              <a:rPr lang="zh-CN" altLang="en-US" sz="20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0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许多复杂系统优化</a:t>
            </a: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零阶优化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机器学习社区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免梯度优化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数学优化社区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仿真优化</a:t>
            </a:r>
            <a:r>
              <a:rPr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运筹管理社区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矩形 3"/>
          <p:cNvSpPr/>
          <p:nvPr/>
        </p:nvSpPr>
        <p:spPr>
          <a:xfrm>
            <a:off x="0" y="6488668"/>
            <a:ext cx="12192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Eiben 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sz="20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Smith, 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2015. Introduction </a:t>
            </a:r>
            <a:r>
              <a:rPr lang="en-US" altLang="zh-CN" sz="20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Evolutionary Computing. Springer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1774" y="5176016"/>
            <a:ext cx="2830036" cy="72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1774" y="3009678"/>
            <a:ext cx="3103664" cy="72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1774" y="708203"/>
            <a:ext cx="2336197" cy="108000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793823" y="5896016"/>
            <a:ext cx="305694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https://openai.com/index/evolution-strategies/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1774" y="762873"/>
            <a:ext cx="980573" cy="97200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9182252" y="523537"/>
            <a:ext cx="274145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机器人神经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器设计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优化目标：行走距离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优化变量：神经网络权重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9925438" y="2704683"/>
            <a:ext cx="134684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函数可视化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难度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：多峰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噪音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9651810" y="5202181"/>
            <a:ext cx="11144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控制效果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多样性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下箭头 14"/>
          <p:cNvSpPr/>
          <p:nvPr/>
        </p:nvSpPr>
        <p:spPr>
          <a:xfrm>
            <a:off x="7827508" y="2033766"/>
            <a:ext cx="818568" cy="654855"/>
          </a:xfrm>
          <a:prstGeom prst="down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7842686" y="4173975"/>
            <a:ext cx="818568" cy="654855"/>
          </a:xfrm>
          <a:prstGeom prst="down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838200" y="5836731"/>
            <a:ext cx="5257800" cy="475169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latin typeface="+mn-ea"/>
                <a:cs typeface="Times New Roman" panose="02020603050405020304" pitchFamily="18" charset="0"/>
              </a:rPr>
              <a:t>一般场景下，全局优化属于</a:t>
            </a:r>
            <a:r>
              <a:rPr lang="en-US" altLang="zh-CN" sz="2400" b="1" dirty="0" smtClean="0">
                <a:latin typeface="+mn-ea"/>
                <a:cs typeface="Times New Roman" panose="02020603050405020304" pitchFamily="18" charset="0"/>
              </a:rPr>
              <a:t>NP-Hard</a:t>
            </a:r>
            <a:endParaRPr lang="zh-CN" altLang="en-US" sz="2400" b="1" dirty="0"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450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优缺点分析：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基于</a:t>
            </a:r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种群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随机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采样</a:t>
            </a:r>
            <a:r>
              <a:rPr lang="zh-CN" altLang="en-US" sz="20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相对</a:t>
            </a:r>
            <a:r>
              <a:rPr lang="zh-CN" altLang="en-US" sz="20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于基于个体的采样</a:t>
            </a: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更全面地探索搜索空间中的全局结构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更稳定地在崎岖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空间进行有效搜索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有偏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的竞争选择</a:t>
            </a:r>
            <a:r>
              <a:rPr lang="zh-CN" altLang="en-US" sz="20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0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相对于纯随机搜索</a:t>
            </a: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设计具有自我改进能力的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系统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元学习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实现该计算操作非常简单与快速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基于</a:t>
            </a:r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交叉与变异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计算策略的</a:t>
            </a:r>
            <a:r>
              <a:rPr lang="zh-CN" alt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适应</a:t>
            </a:r>
            <a:endParaRPr lang="en-US" altLang="zh-CN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只需建立在</a:t>
            </a:r>
            <a:r>
              <a:rPr lang="zh-CN" alt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弱假设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条件之上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数据结构层级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能够适用于各种不同的复杂系统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可用并不代表高效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具有灵活的算法框架 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能够整合不同的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范式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923" y="0"/>
            <a:ext cx="5348077" cy="1800000"/>
          </a:xfrm>
          <a:prstGeom prst="rect">
            <a:avLst/>
          </a:prstGeom>
        </p:spPr>
      </p:pic>
      <p:sp>
        <p:nvSpPr>
          <p:cNvPr id="17" name="内容占位符 2"/>
          <p:cNvSpPr txBox="1">
            <a:spLocks/>
          </p:cNvSpPr>
          <p:nvPr/>
        </p:nvSpPr>
        <p:spPr>
          <a:xfrm>
            <a:off x="7047668" y="2691329"/>
            <a:ext cx="5075120" cy="2619930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图灵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奖得主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Sutton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教授著名的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断言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Bitter 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Lesson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“Breakthrough progress 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eventually arrives by </a:t>
            </a:r>
            <a:r>
              <a:rPr lang="en-US" altLang="zh-CN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approach 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</a:t>
            </a:r>
            <a:r>
              <a:rPr lang="en-US" altLang="zh-CN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scaling computation 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altLang="zh-CN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CN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n-US" altLang="zh-CN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925817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针对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病态不可分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优化场景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31"/>
          <a:stretch/>
        </p:blipFill>
        <p:spPr>
          <a:xfrm>
            <a:off x="7597935" y="410457"/>
            <a:ext cx="4594065" cy="648000"/>
          </a:xfrm>
        </p:spPr>
      </p:pic>
      <p:sp>
        <p:nvSpPr>
          <p:cNvPr id="5" name="矩形 4"/>
          <p:cNvSpPr/>
          <p:nvPr/>
        </p:nvSpPr>
        <p:spPr>
          <a:xfrm>
            <a:off x="7506858" y="41125"/>
            <a:ext cx="41030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Petros </a:t>
            </a:r>
            <a:r>
              <a:rPr lang="en-US" altLang="zh-CN" b="1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Koumoutsakos: </a:t>
            </a:r>
            <a:r>
              <a:rPr lang="zh-CN" altLang="en-US" b="1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美国工程院院士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124" y="1306700"/>
            <a:ext cx="5711752" cy="540000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0" y="6488668"/>
            <a:ext cx="12192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图片来源</a:t>
            </a: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0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博士论文</a:t>
            </a:r>
            <a:endParaRPr lang="zh-CN" altLang="en-US" sz="20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适应景观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二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阶信息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944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已有演化算法的应用挑战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9141" y="41560"/>
            <a:ext cx="4242859" cy="1080000"/>
          </a:xfrm>
        </p:spPr>
      </p:pic>
      <p:sp>
        <p:nvSpPr>
          <p:cNvPr id="5" name="内容占位符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zh-CN" alt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协方差矩阵自适应演化策略</a:t>
            </a:r>
            <a:r>
              <a:rPr lang="en-US" altLang="zh-CN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(CMA-ES)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为例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具有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三次方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的时间复杂度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具有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二次方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的空间复杂度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通过非监督学习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(PCA) 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寻找采样方向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zh-CN" alt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遗传算法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为例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具备采样方向的学习能力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一般建模为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MCMC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过程而非学习过程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收敛速率非常缓慢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有时收敛性能相差上万倍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该结论取决于条件数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zh-CN" alt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纯随机搜索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高维下收敛速率与维度成指数倍增长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9"/>
          <a:stretch/>
        </p:blipFill>
        <p:spPr>
          <a:xfrm>
            <a:off x="6819920" y="2207031"/>
            <a:ext cx="4320000" cy="4168834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6150114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Hansen, Arnold 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sz="20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Auger, 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2015. Evolution strategies. In Springer Handbook of Computational Intelligence (pp. 871-898). </a:t>
            </a:r>
            <a:r>
              <a:rPr lang="en-US" altLang="zh-CN" sz="20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Springer.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97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创新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(TPDS, CCF-A)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演化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算法结构的元演化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多层级选择与学习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分布式计算加速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有限内存策略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(LM-CMA)</a:t>
            </a: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尽量保持演化路径之间的独立性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不同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于经典的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L-BFGS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优化算法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78000"/>
            <a:ext cx="5845852" cy="108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841" y="555029"/>
            <a:ext cx="4026280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814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857" y="0"/>
            <a:ext cx="5058286" cy="6858000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488668"/>
            <a:ext cx="12192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图片来源</a:t>
            </a: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0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博士论文</a:t>
            </a:r>
            <a:endParaRPr lang="zh-CN" altLang="en-US" sz="20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744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831" y="1680470"/>
            <a:ext cx="4594383" cy="432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811" y="1680470"/>
            <a:ext cx="4594576" cy="4320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6488668"/>
            <a:ext cx="12192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图片来源</a:t>
            </a: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0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博士论文</a:t>
            </a:r>
            <a:endParaRPr lang="zh-CN" altLang="en-US" sz="20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实验结果：</a:t>
            </a:r>
            <a:r>
              <a:rPr lang="zh-CN" alt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en-US" altLang="zh-CN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个算法基准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87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针对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稀疏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不可分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优化场景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0" y="6488668"/>
            <a:ext cx="12192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图片来源</a:t>
            </a: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0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博士论文</a:t>
            </a:r>
            <a:endParaRPr lang="zh-CN" altLang="en-US" sz="20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2052" y="2529000"/>
            <a:ext cx="4668361" cy="180000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962184" y="2090104"/>
            <a:ext cx="4150356" cy="2677792"/>
            <a:chOff x="0" y="0"/>
            <a:chExt cx="4150823" cy="2678083"/>
          </a:xfrm>
        </p:grpSpPr>
        <p:sp>
          <p:nvSpPr>
            <p:cNvPr id="13" name="椭圆 12"/>
            <p:cNvSpPr/>
            <p:nvPr/>
          </p:nvSpPr>
          <p:spPr>
            <a:xfrm>
              <a:off x="728749" y="1"/>
              <a:ext cx="428106" cy="415635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ts val="1200"/>
                </a:lnSpc>
                <a:spcAft>
                  <a:spcPts val="0"/>
                </a:spcAft>
              </a:pPr>
              <a:r>
                <a:rPr lang="en-US" sz="1050" kern="1200">
                  <a:solidFill>
                    <a:srgbClr val="FFFFFF"/>
                  </a:solidFill>
                  <a:effectLst/>
                  <a:latin typeface="Times New Roman" panose="02020603050405020304" pitchFamily="18" charset="0"/>
                  <a:ea typeface="等线" panose="02010600030101010101" pitchFamily="2" charset="-122"/>
                  <a:cs typeface="宋体" panose="02010600030101010101" pitchFamily="2" charset="-122"/>
                </a:rPr>
                <a:t>1</a:t>
              </a:r>
              <a:endParaRPr lang="zh-CN" sz="12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0" y="717666"/>
              <a:ext cx="428106" cy="415635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ts val="1200"/>
                </a:lnSpc>
                <a:spcAft>
                  <a:spcPts val="0"/>
                </a:spcAft>
              </a:pPr>
              <a:r>
                <a:rPr lang="en-US" sz="1050" kern="1200">
                  <a:solidFill>
                    <a:srgbClr val="FFFFFF"/>
                  </a:solidFill>
                  <a:effectLst/>
                  <a:latin typeface="Times New Roman" panose="02020603050405020304" pitchFamily="18" charset="0"/>
                  <a:ea typeface="等线" panose="02010600030101010101" pitchFamily="2" charset="-122"/>
                  <a:cs typeface="宋体" panose="02010600030101010101" pitchFamily="2" charset="-122"/>
                </a:rPr>
                <a:t>2</a:t>
              </a:r>
              <a:endParaRPr lang="zh-CN" sz="12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1483822" y="717665"/>
              <a:ext cx="428106" cy="415635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ts val="1200"/>
                </a:lnSpc>
                <a:spcAft>
                  <a:spcPts val="0"/>
                </a:spcAft>
              </a:pPr>
              <a:r>
                <a:rPr lang="en-US" sz="1050" kern="1200">
                  <a:solidFill>
                    <a:srgbClr val="FFFFFF"/>
                  </a:solidFill>
                  <a:effectLst/>
                  <a:latin typeface="Times New Roman" panose="02020603050405020304" pitchFamily="18" charset="0"/>
                  <a:ea typeface="等线" panose="02010600030101010101" pitchFamily="2" charset="-122"/>
                  <a:cs typeface="宋体" panose="02010600030101010101" pitchFamily="2" charset="-122"/>
                </a:rPr>
                <a:t>3</a:t>
              </a:r>
              <a:endParaRPr lang="zh-CN" sz="12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 flipH="1">
              <a:off x="214053" y="207819"/>
              <a:ext cx="514696" cy="509847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1156855" y="207819"/>
              <a:ext cx="541020" cy="50984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428106" y="925483"/>
              <a:ext cx="1055716" cy="1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椭圆 18"/>
            <p:cNvSpPr/>
            <p:nvPr/>
          </p:nvSpPr>
          <p:spPr>
            <a:xfrm>
              <a:off x="2967644" y="0"/>
              <a:ext cx="428106" cy="415635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ts val="1200"/>
                </a:lnSpc>
                <a:spcAft>
                  <a:spcPts val="0"/>
                </a:spcAft>
              </a:pPr>
              <a:r>
                <a:rPr lang="en-US" sz="1050" kern="1200">
                  <a:solidFill>
                    <a:srgbClr val="FFFFFF"/>
                  </a:solidFill>
                  <a:effectLst/>
                  <a:latin typeface="Times New Roman" panose="02020603050405020304" pitchFamily="18" charset="0"/>
                  <a:ea typeface="等线" panose="02010600030101010101" pitchFamily="2" charset="-122"/>
                  <a:cs typeface="宋体" panose="02010600030101010101" pitchFamily="2" charset="-122"/>
                </a:rPr>
                <a:t>8</a:t>
              </a:r>
              <a:endParaRPr lang="zh-CN" sz="12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2238895" y="717665"/>
              <a:ext cx="428106" cy="415635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ts val="1200"/>
                </a:lnSpc>
                <a:spcAft>
                  <a:spcPts val="0"/>
                </a:spcAft>
              </a:pPr>
              <a:r>
                <a:rPr lang="en-US" sz="1050" kern="1200">
                  <a:solidFill>
                    <a:srgbClr val="FFFFFF"/>
                  </a:solidFill>
                  <a:effectLst/>
                  <a:latin typeface="Times New Roman" panose="02020603050405020304" pitchFamily="18" charset="0"/>
                  <a:ea typeface="等线" panose="02010600030101010101" pitchFamily="2" charset="-122"/>
                  <a:cs typeface="宋体" panose="02010600030101010101" pitchFamily="2" charset="-122"/>
                </a:rPr>
                <a:t>7</a:t>
              </a:r>
              <a:endParaRPr lang="zh-CN" sz="12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3722717" y="717664"/>
              <a:ext cx="428106" cy="415635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ts val="1200"/>
                </a:lnSpc>
                <a:spcAft>
                  <a:spcPts val="0"/>
                </a:spcAft>
              </a:pPr>
              <a:r>
                <a:rPr lang="en-US" sz="1050" kern="1200">
                  <a:solidFill>
                    <a:srgbClr val="FFFFFF"/>
                  </a:solidFill>
                  <a:effectLst/>
                  <a:latin typeface="Times New Roman" panose="02020603050405020304" pitchFamily="18" charset="0"/>
                  <a:ea typeface="等线" panose="02010600030101010101" pitchFamily="2" charset="-122"/>
                  <a:cs typeface="宋体" panose="02010600030101010101" pitchFamily="2" charset="-122"/>
                </a:rPr>
                <a:t>9</a:t>
              </a:r>
              <a:endParaRPr lang="zh-CN" sz="12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22" name="直接连接符 21"/>
            <p:cNvCxnSpPr/>
            <p:nvPr/>
          </p:nvCxnSpPr>
          <p:spPr>
            <a:xfrm flipH="1">
              <a:off x="2452948" y="207818"/>
              <a:ext cx="514696" cy="509847"/>
            </a:xfrm>
            <a:prstGeom prst="line">
              <a:avLst/>
            </a:prstGeom>
            <a:ln w="19050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3395750" y="207818"/>
              <a:ext cx="541020" cy="509846"/>
            </a:xfrm>
            <a:prstGeom prst="line">
              <a:avLst/>
            </a:prstGeom>
            <a:ln w="19050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2667001" y="925482"/>
              <a:ext cx="1055716" cy="1"/>
            </a:xfrm>
            <a:prstGeom prst="line">
              <a:avLst/>
            </a:prstGeom>
            <a:ln w="19050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1830878" y="1544783"/>
              <a:ext cx="428106" cy="415635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ts val="1200"/>
                </a:lnSpc>
                <a:spcAft>
                  <a:spcPts val="0"/>
                </a:spcAft>
              </a:pPr>
              <a:r>
                <a:rPr lang="en-US" sz="1050" kern="1200">
                  <a:solidFill>
                    <a:srgbClr val="FFFFFF"/>
                  </a:solidFill>
                  <a:effectLst/>
                  <a:latin typeface="Times New Roman" panose="02020603050405020304" pitchFamily="18" charset="0"/>
                  <a:ea typeface="等线" panose="02010600030101010101" pitchFamily="2" charset="-122"/>
                  <a:cs typeface="宋体" panose="02010600030101010101" pitchFamily="2" charset="-122"/>
                </a:rPr>
                <a:t>4</a:t>
              </a:r>
              <a:endParaRPr lang="zh-CN" sz="12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1102129" y="2262448"/>
              <a:ext cx="428106" cy="415635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ts val="1200"/>
                </a:lnSpc>
                <a:spcAft>
                  <a:spcPts val="0"/>
                </a:spcAft>
              </a:pPr>
              <a:r>
                <a:rPr lang="en-US" sz="1050" kern="1200">
                  <a:solidFill>
                    <a:srgbClr val="FFFFFF"/>
                  </a:solidFill>
                  <a:effectLst/>
                  <a:latin typeface="Times New Roman" panose="02020603050405020304" pitchFamily="18" charset="0"/>
                  <a:ea typeface="等线" panose="02010600030101010101" pitchFamily="2" charset="-122"/>
                  <a:cs typeface="宋体" panose="02010600030101010101" pitchFamily="2" charset="-122"/>
                </a:rPr>
                <a:t>5</a:t>
              </a:r>
              <a:endParaRPr lang="zh-CN" sz="12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2585951" y="2262447"/>
              <a:ext cx="428106" cy="415635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ts val="1200"/>
                </a:lnSpc>
                <a:spcAft>
                  <a:spcPts val="0"/>
                </a:spcAft>
              </a:pPr>
              <a:r>
                <a:rPr lang="en-US" sz="1050" kern="1200">
                  <a:solidFill>
                    <a:srgbClr val="FFFFFF"/>
                  </a:solidFill>
                  <a:effectLst/>
                  <a:latin typeface="Times New Roman" panose="02020603050405020304" pitchFamily="18" charset="0"/>
                  <a:ea typeface="等线" panose="02010600030101010101" pitchFamily="2" charset="-122"/>
                  <a:cs typeface="宋体" panose="02010600030101010101" pitchFamily="2" charset="-122"/>
                </a:rPr>
                <a:t>6</a:t>
              </a:r>
              <a:endParaRPr lang="zh-CN" sz="12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>
            <a:xfrm flipH="1">
              <a:off x="1316182" y="1752601"/>
              <a:ext cx="514696" cy="509847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2258984" y="1752601"/>
              <a:ext cx="541020" cy="509846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1530235" y="2470265"/>
              <a:ext cx="1055716" cy="1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 flipV="1">
              <a:off x="1697875" y="1133300"/>
              <a:ext cx="347056" cy="41148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V="1">
              <a:off x="2044931" y="1133300"/>
              <a:ext cx="408017" cy="41148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>
          <a:xfrm>
            <a:off x="1636157" y="4885228"/>
            <a:ext cx="27414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具有稀疏结构的变量交互</a:t>
            </a:r>
            <a:endParaRPr lang="zh-CN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7666851" y="4885228"/>
            <a:ext cx="34387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基于分解的合作型协同演化算法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3018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/>
        </p:nvPicPr>
        <p:blipFill rotWithShape="1">
          <a:blip r:embed="rId2"/>
          <a:srcRect l="27006" t="20213" r="27002" b="31218"/>
          <a:stretch/>
        </p:blipFill>
        <p:spPr bwMode="auto">
          <a:xfrm>
            <a:off x="1061212" y="2529000"/>
            <a:ext cx="2880000" cy="1800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收敛分析</a:t>
            </a:r>
            <a:endParaRPr lang="zh-CN" altLang="en-US" dirty="0">
              <a:solidFill>
                <a:srgbClr val="0070C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837" y="729000"/>
            <a:ext cx="5094434" cy="5400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621166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</a:rPr>
              <a:t>Qiqi Duan</a:t>
            </a:r>
            <a:r>
              <a:rPr lang="en-US" altLang="zh-CN" dirty="0" smtClean="0">
                <a:latin typeface="Times New Roman" panose="02020603050405020304" pitchFamily="18" charset="0"/>
              </a:rPr>
              <a:t>, et al</a:t>
            </a:r>
            <a:r>
              <a:rPr lang="en-US" altLang="zh-CN" kern="100" dirty="0" smtClean="0">
                <a:latin typeface="Times New Roman" panose="02020603050405020304" pitchFamily="18" charset="0"/>
              </a:rPr>
              <a:t>. </a:t>
            </a:r>
            <a:r>
              <a:rPr lang="en-US" altLang="zh-CN" kern="100" dirty="0">
                <a:latin typeface="Times New Roman" panose="02020603050405020304" pitchFamily="18" charset="0"/>
              </a:rPr>
              <a:t>Cooperative Coevolution for Non-Separable Large-Scale Black-Box Optimization: Convergence Analyses and Distributed </a:t>
            </a:r>
            <a:r>
              <a:rPr lang="en-US" altLang="zh-CN" kern="100" dirty="0" smtClean="0">
                <a:latin typeface="Times New Roman" panose="02020603050405020304" pitchFamily="18" charset="0"/>
              </a:rPr>
              <a:t>Accelerations. </a:t>
            </a:r>
            <a:r>
              <a:rPr lang="en-US" altLang="zh-CN" i="1" kern="100" dirty="0">
                <a:latin typeface="Times New Roman" panose="02020603050405020304" pitchFamily="18" charset="0"/>
              </a:rPr>
              <a:t>Applied Soft Computing</a:t>
            </a:r>
            <a:r>
              <a:rPr lang="en-US" altLang="zh-CN" kern="100" dirty="0">
                <a:latin typeface="Times New Roman" panose="02020603050405020304" pitchFamily="18" charset="0"/>
              </a:rPr>
              <a:t>, 2024</a:t>
            </a:r>
            <a:r>
              <a:rPr lang="en-US" altLang="zh-CN" kern="100" dirty="0">
                <a:latin typeface="Times New Roman" panose="02020603050405020304" pitchFamily="18" charset="0"/>
                <a:cs typeface="宋体" panose="02010600030101010101" pitchFamily="2" charset="-122"/>
              </a:rPr>
              <a:t>,</a:t>
            </a:r>
            <a:r>
              <a:rPr lang="en-US" altLang="zh-CN" kern="100" dirty="0">
                <a:latin typeface="Times New Roman" panose="02020603050405020304" pitchFamily="18" charset="0"/>
              </a:rPr>
              <a:t> 166(112232)</a:t>
            </a:r>
            <a:r>
              <a:rPr lang="en-US" altLang="zh-CN" kern="100" dirty="0">
                <a:latin typeface="Times New Roman" panose="02020603050405020304" pitchFamily="18" charset="0"/>
                <a:cs typeface="宋体" panose="02010600030101010101" pitchFamily="2" charset="-122"/>
              </a:rPr>
              <a:t>:</a:t>
            </a:r>
            <a:r>
              <a:rPr lang="en-US" altLang="zh-CN" kern="100" dirty="0">
                <a:latin typeface="Times New Roman" panose="02020603050405020304" pitchFamily="18" charset="0"/>
              </a:rPr>
              <a:t> 1-14.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1025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9000"/>
            <a:ext cx="8489016" cy="3600000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黑箱优化的</a:t>
            </a:r>
            <a:r>
              <a:rPr lang="zh-CN" alt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开源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软件库</a:t>
            </a:r>
            <a:endParaRPr lang="zh-CN" altLang="en-US" dirty="0">
              <a:solidFill>
                <a:srgbClr val="0070C0"/>
              </a:solidFill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834044" y="1853737"/>
            <a:ext cx="2104505" cy="831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8761615" y="526072"/>
            <a:ext cx="3430385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总下载量</a:t>
            </a:r>
            <a:endParaRPr lang="en-US" altLang="zh-CN" sz="28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&gt;10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万次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整合案例</a:t>
            </a:r>
            <a:endParaRPr lang="en-US" altLang="zh-CN" sz="28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Nature-2025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期刊论文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神经控制器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英伟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达公司等研究论文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(NeurIPS 2025)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华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为公司等研究论文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(ArXiv 2025)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MetaBBO-V2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软件库论文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NeurIPS 2025)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美国科学院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工程院院士团队开发的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OPOF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软件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082041" y="4790901"/>
            <a:ext cx="3099261" cy="554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453901" y="4790901"/>
            <a:ext cx="172661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4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扩展与展望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开发与设计</a:t>
            </a:r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分布式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演化算法软件库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正在进行中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构建基于多层级学习的演化算法</a:t>
            </a:r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理论框架</a:t>
            </a:r>
            <a:endParaRPr lang="en-US" altLang="zh-CN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概念框架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来自美国科学院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医学院院士的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PNAS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论文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计算框架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多篇相互独立的研究论文、包括我自己的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TPDS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论文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构建</a:t>
            </a:r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自我改进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的人工智能系统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307" y="4371139"/>
            <a:ext cx="6689387" cy="1800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6488668"/>
            <a:ext cx="12192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://</a:t>
            </a:r>
            <a:r>
              <a:rPr lang="en-US" altLang="zh-CN" sz="20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www.pnas.org/doi/abs/10.1073/pnas.2120037119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14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3296" y="2013227"/>
            <a:ext cx="6625408" cy="120166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感谢各位教授、同仁与同学聆听！</a:t>
            </a:r>
            <a:endParaRPr lang="en-US" altLang="zh-CN" sz="36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zh-CN" altLang="en-US" sz="3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敬请批评指正！</a:t>
            </a:r>
            <a:endParaRPr lang="zh-CN" altLang="en-US" sz="3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996652" cy="612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86" t="13879" r="19161" b="19151"/>
          <a:stretch/>
        </p:blipFill>
        <p:spPr>
          <a:xfrm>
            <a:off x="5088001" y="3776391"/>
            <a:ext cx="2015999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913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864</Words>
  <Application>Microsoft Office PowerPoint</Application>
  <PresentationFormat>宽屏</PresentationFormat>
  <Paragraphs>125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等线</vt:lpstr>
      <vt:lpstr>宋体</vt:lpstr>
      <vt:lpstr>微软雅黑</vt:lpstr>
      <vt:lpstr>Arial</vt:lpstr>
      <vt:lpstr>Calibri</vt:lpstr>
      <vt:lpstr>Calibri Light</vt:lpstr>
      <vt:lpstr>Times New Roman</vt:lpstr>
      <vt:lpstr>Office 主题</vt:lpstr>
      <vt:lpstr>面向大规模黑箱优化问题的演化算法分析与设计</vt:lpstr>
      <vt:lpstr>基本流程</vt:lpstr>
      <vt:lpstr>应用：阿里巴巴上海园区设计</vt:lpstr>
      <vt:lpstr>代表性应用（部分）</vt:lpstr>
      <vt:lpstr>核心计算挑战</vt:lpstr>
      <vt:lpstr>优缺点分析：优点</vt:lpstr>
      <vt:lpstr>针对病态不可分优化场景</vt:lpstr>
      <vt:lpstr>已有演化算法的应用挑战</vt:lpstr>
      <vt:lpstr>创新 (TPDS, CCF-A)</vt:lpstr>
      <vt:lpstr>实验结果</vt:lpstr>
      <vt:lpstr>实验结果：对比&gt;60个算法基准</vt:lpstr>
      <vt:lpstr>针对稀疏不可分优化场景</vt:lpstr>
      <vt:lpstr>收敛分析</vt:lpstr>
      <vt:lpstr>黑箱优化的开源软件库</vt:lpstr>
      <vt:lpstr>扩展与展望</vt:lpstr>
      <vt:lpstr>PowerPoint 演示文稿</vt:lpstr>
    </vt:vector>
  </TitlesOfParts>
  <Company>SUSTech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Windows 用户</cp:lastModifiedBy>
  <cp:revision>703</cp:revision>
  <dcterms:created xsi:type="dcterms:W3CDTF">2025-11-02T06:29:11Z</dcterms:created>
  <dcterms:modified xsi:type="dcterms:W3CDTF">2025-11-07T07:47:48Z</dcterms:modified>
</cp:coreProperties>
</file>